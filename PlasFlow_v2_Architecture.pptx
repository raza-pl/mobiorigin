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PlasFlow v2 — 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3200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51560"/>
            <a:ext cx="169164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51560"/>
            <a:ext cx="169164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515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Metagenomic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40280" y="1051560"/>
            <a:ext cx="214884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1051560"/>
            <a:ext cx="214884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10515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31720" y="146304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k-mer MLP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1,493-dim features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k=1–5 + k=6 PCA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214884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051560"/>
            <a:ext cx="2148840" cy="34747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515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146304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XGBoost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MOB-suite DIAMOND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bio 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051560"/>
            <a:ext cx="173736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1051560"/>
            <a:ext cx="1737360" cy="347472"/>
          </a:xfrm>
          <a:prstGeom prst="rect">
            <a:avLst/>
          </a:prstGeom>
          <a:solidFill>
            <a:srgbClr val="0D6B4F"/>
          </a:solidFill>
          <a:ln w="12700">
            <a:solidFill>
              <a:srgbClr val="0D6B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1051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69480" y="146304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Labels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947672" y="1988820"/>
            <a:ext cx="2743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4416552" y="1988820"/>
            <a:ext cx="2743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6885432" y="1988820"/>
            <a:ext cx="2743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228600" y="3108960"/>
            <a:ext cx="283464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3108960"/>
            <a:ext cx="54864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" y="316382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k-mer Composition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" y="3538728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k=1–5 (1,364 dims) + k=6 PCA to 128 dims + length = 1,493 features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46120" y="3108960"/>
            <a:ext cx="283464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3108960"/>
            <a:ext cx="54864" cy="16916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92424" y="316382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Markers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92424" y="3538728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blastp vs relaxase, MPF, rep proteins — 16 interpretable features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3108960"/>
            <a:ext cx="283464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3108960"/>
            <a:ext cx="54864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9944" y="316382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Decision Logic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9944" y="3538728"/>
            <a:ext cx="257860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Conjugative override + alpha blending + per-length confidence thresholds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069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0690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SEQUENCE-BASED FEATURES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" y="1572768"/>
            <a:ext cx="73152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57276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1,364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5910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  to  k = 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18928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mononucleotide through pentanucleotide frequency spectrum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2487168"/>
            <a:ext cx="731520" cy="6858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8716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5054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6  (PCA)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28072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Hexamer frequencies compressed via PCA — retains max variance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3401568"/>
            <a:ext cx="731520" cy="685800"/>
          </a:xfrm>
          <a:prstGeom prst="rect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40156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4198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 Length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25880" y="37216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Log-scaled contig length in bp — key for length-aware thresholds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" y="4251960"/>
            <a:ext cx="3749040" cy="4754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2519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input dimensions: 1,493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4069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05840"/>
            <a:ext cx="4069080" cy="38404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0058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MARKER FEATURES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1517904"/>
            <a:ext cx="502920" cy="502920"/>
          </a:xfrm>
          <a:prstGeom prst="ellipse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517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04688" y="1481328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Relaxase / MOB proteins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04688" y="1773936"/>
            <a:ext cx="3136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mob_hits, has_mob — DIAMOND vs mob_proteins.dmnd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2231136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231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MPF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04688" y="21945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MPF complex proteins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04688" y="2487168"/>
            <a:ext cx="3136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mpf_hits, is_conjugative — mating-pair formation genes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2944368"/>
            <a:ext cx="502920" cy="502920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04688" y="2907792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proteins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04688" y="3200400"/>
            <a:ext cx="3136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n_rep_per_kb — rep initiator density per kilobase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365760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04688" y="362102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Gene-level signals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04688" y="3913632"/>
            <a:ext cx="3136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coding_density, n_cds, contig_length_kb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92040" y="4297680"/>
            <a:ext cx="3749040" cy="4754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42976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biological features  →  XGBoost Stage 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&amp; Classification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3200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397764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54864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161288"/>
            <a:ext cx="530352" cy="5303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612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097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138988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genetic elements — autonomously replicating extra-chromosomal DNA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75104"/>
            <a:ext cx="397764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75104"/>
            <a:ext cx="54864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130552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1305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0665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" y="235915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Chromosomal / genomic sequences from bacteria or archaea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944368"/>
            <a:ext cx="397764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944368"/>
            <a:ext cx="54864" cy="868680"/>
          </a:xfrm>
          <a:prstGeom prst="rect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3099816"/>
            <a:ext cx="530352" cy="530352"/>
          </a:xfrm>
          <a:prstGeom prst="ellipse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099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30358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" y="3328416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Bacteriophage and viral sequences integrated or free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913632"/>
            <a:ext cx="397764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913632"/>
            <a:ext cx="54864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069080"/>
            <a:ext cx="530352" cy="53035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069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15568" y="40050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15568" y="42976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below per-length threshold — output score still available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1005840"/>
            <a:ext cx="4206240" cy="658368"/>
          </a:xfrm>
          <a:prstGeom prst="rect">
            <a:avLst/>
          </a:prstGeom>
          <a:solidFill>
            <a:srgbClr val="0F2744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033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TSV Format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13167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sequence_id   label   plasmid   chromosome   phage   unclassified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17720" y="1691640"/>
            <a:ext cx="4206240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1691640"/>
            <a:ext cx="45720" cy="40233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746504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contig_001   plasmid      0.9231   0.0412   0.0357   0.0000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2112264"/>
            <a:ext cx="4206240" cy="402336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2112264"/>
            <a:ext cx="45720" cy="40233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167128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contig_002   chromosome   0.0089   0.9611   0.0300   0.0000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17720" y="2532888"/>
            <a:ext cx="4206240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7720" y="2532888"/>
            <a:ext cx="45720" cy="402336"/>
          </a:xfrm>
          <a:prstGeom prst="rect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2587752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contig_003   phage        0.0312   0.0421   0.9267   0.0000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17720" y="2953512"/>
            <a:ext cx="4206240" cy="402336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17720" y="2953512"/>
            <a:ext cx="45720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008376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contig_004   unclassified 0.3210   0.3540   0.2890   0.0360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17720" y="3410712"/>
            <a:ext cx="4206240" cy="144475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17720" y="3410712"/>
            <a:ext cx="54864" cy="14447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46557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Per-Length Confidence Thresholds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54880" y="3813048"/>
            <a:ext cx="39776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kb      strict threshold   (short contigs: high ambiguity)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10 kb   balanced threshold (moderate signal from k-mers)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20 kb  relaxed threshold  (length aids class separation)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20 kb     most sensitive     (full plasmid-scale k-mer signal)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1005840"/>
            <a:ext cx="1828800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0" y="1005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PlasFlow v1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005840"/>
            <a:ext cx="1828800" cy="5029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05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PlasFlow v2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66560" y="1005840"/>
            <a:ext cx="1828800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005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536192"/>
            <a:ext cx="2834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361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1536192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5361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(plasmid / chr)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536192"/>
            <a:ext cx="1828800" cy="402336"/>
          </a:xfrm>
          <a:prstGeom prst="rect">
            <a:avLst/>
          </a:prstGeom>
          <a:solidFill>
            <a:srgbClr val="E8F7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5361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(+ phage)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536192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5361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(+ virus)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1938528"/>
            <a:ext cx="2834640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93852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representation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08960" y="1938528"/>
            <a:ext cx="1828800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93852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k-mer histogram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1938528"/>
            <a:ext cx="1828800" cy="402336"/>
          </a:xfrm>
          <a:prstGeom prst="rect">
            <a:avLst/>
          </a:prstGeom>
          <a:solidFill>
            <a:srgbClr val="D4F1E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93852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k-mer + PCA + length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1938528"/>
            <a:ext cx="1828800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93852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4-mer position matrix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340864"/>
            <a:ext cx="2834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34086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architecture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08960" y="2340864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34086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MLP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2340864"/>
            <a:ext cx="1828800" cy="402336"/>
          </a:xfrm>
          <a:prstGeom prst="rect">
            <a:avLst/>
          </a:prstGeom>
          <a:solidFill>
            <a:srgbClr val="E8F7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34086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MLP + XGBoost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66560" y="2340864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234086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IGLOO (conv + attn)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2743200"/>
            <a:ext cx="2834640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7432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database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108960" y="2743200"/>
            <a:ext cx="1828800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27432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37760" y="2743200"/>
            <a:ext cx="1828800" cy="402336"/>
          </a:xfrm>
          <a:prstGeom prst="rect">
            <a:avLst/>
          </a:prstGeom>
          <a:solidFill>
            <a:srgbClr val="D4F1E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27432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MOB-suite (3 DBs)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766560" y="2743200"/>
            <a:ext cx="1828800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27432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227,897 profiles (SPM)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3145536"/>
            <a:ext cx="2834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314553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tool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108960" y="3145536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314553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937760" y="3145536"/>
            <a:ext cx="1828800" cy="402336"/>
          </a:xfrm>
          <a:prstGeom prst="rect">
            <a:avLst/>
          </a:prstGeom>
          <a:solidFill>
            <a:srgbClr val="E8F7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0" y="314553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blastp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766560" y="3145536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0" y="314553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MMseqs2 (faster)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74320" y="3547872"/>
            <a:ext cx="2834640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354787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108960" y="3547872"/>
            <a:ext cx="1828800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0" y="35478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reference genomes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937760" y="3547872"/>
            <a:ext cx="1828800" cy="402336"/>
          </a:xfrm>
          <a:prstGeom prst="rect">
            <a:avLst/>
          </a:prstGeom>
          <a:solidFill>
            <a:srgbClr val="D4F1E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0" y="35478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PLSDB + GTDB + INPHARED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766560" y="3547872"/>
            <a:ext cx="1828800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58000" y="35478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MGE database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74320" y="3950208"/>
            <a:ext cx="28346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395020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MAG support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108960" y="3950208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0" y="395020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937760" y="3950208"/>
            <a:ext cx="1828800" cy="402336"/>
          </a:xfrm>
          <a:prstGeom prst="rect">
            <a:avLst/>
          </a:prstGeom>
          <a:solidFill>
            <a:srgbClr val="E8F7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0" y="395020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766560" y="3950208"/>
            <a:ext cx="18288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58000" y="395020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74320" y="4352544"/>
            <a:ext cx="2834640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35254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Plasmid F1 (benchmark)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108960" y="4352544"/>
            <a:ext cx="1828800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0" y="435254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0.939*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937760" y="4352544"/>
            <a:ext cx="1828800" cy="402336"/>
          </a:xfrm>
          <a:prstGeom prst="rect">
            <a:avLst/>
          </a:prstGeom>
          <a:solidFill>
            <a:srgbClr val="D4F1E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9200" y="435254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0.392**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766560" y="4352544"/>
            <a:ext cx="1828800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58000" y="435254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~0.95***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Simulated reads from 40 complete reference genomes (easier benchmark)    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 Real metagenome-assembled contigs — 394 plasmids vs 60,000 chromosomes (harder benchmark)    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  Evaluated on diverse real metagenomic datasets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PlasFlow v2 — Capabilities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8229600" cy="3200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2743200" cy="162763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2070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Classification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Plasmid, chromosome, and phage in a single pass — no separate filtering steps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162763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1887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86200" y="12070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Metagenome Support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1737360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fragmented, variable-coverage MAG contigs, not only complete genomes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005840"/>
            <a:ext cx="2743200" cy="162763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1005840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18872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0" y="12070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 Inference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1737360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GPU/CPU processing — MLP + XGBoost pipeline handles 200k+ contigs in minutes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834640"/>
            <a:ext cx="2743200" cy="162763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834640"/>
            <a:ext cx="2743200" cy="54864"/>
          </a:xfrm>
          <a:prstGeom prst="rect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" y="30358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Biologically Interpretable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566160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MOB-suite DIAMOND annotations provide conjugative/mobilizable evidence alongside k-mers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2834640"/>
            <a:ext cx="2743200" cy="162763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834640"/>
            <a:ext cx="2743200" cy="5486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7560" y="3017520"/>
            <a:ext cx="457200" cy="457200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86200" y="30358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Length-Adaptive Thresholds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37560" y="3566160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Per-length-bin confidence thresholds reduce false positives on short fragments (&lt;2 kb)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0760" y="2834640"/>
            <a:ext cx="2743200" cy="162763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2834640"/>
            <a:ext cx="2743200" cy="54864"/>
          </a:xfrm>
          <a:prstGeom prst="rect">
            <a:avLst/>
          </a:prstGeom>
          <a:solidFill>
            <a:srgbClr val="9B6DCA"/>
          </a:solidFill>
          <a:ln w="12700">
            <a:solidFill>
              <a:srgbClr val="9B6D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3017520"/>
            <a:ext cx="457200" cy="457200"/>
          </a:xfrm>
          <a:prstGeom prst="ellipse">
            <a:avLst/>
          </a:prstGeom>
          <a:solidFill>
            <a:srgbClr val="9B6DCA"/>
          </a:solidFill>
          <a:ln w="12700">
            <a:solidFill>
              <a:srgbClr val="9B6D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66560" y="30358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Second Stage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3566160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accepts any tabular features — drop-in for richer geNomad SPM marker scores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2026-06-09T23:55:10Z</dcterms:created>
  <dcterms:modified xsi:type="dcterms:W3CDTF">2026-06-09T23:55:10Z</dcterms:modified>
</cp:coreProperties>
</file>