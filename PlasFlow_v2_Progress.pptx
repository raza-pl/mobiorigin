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3291840"/>
            <a:ext cx="1645920" cy="164592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60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C39A"/>
                </a:solidFill>
              </a:rPr>
              <a:t>BIOINFORMATICS  ·  METAGENOMICS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PlasFlow v2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Metagenomic Contig Classification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3127248"/>
            <a:ext cx="2286000" cy="457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3337560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337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Plasmid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57400" y="3337560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C7293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3337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Chromosome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20440" y="3337560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E05C45">
              <a:alpha val="80000"/>
            </a:srgbClr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3337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</a:rPr>
              <a:t>Shahbaz Raza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A8A"/>
                </a:solidFill>
              </a:rPr>
              <a:t>Goal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E"/>
                </a:solidFill>
              </a:rPr>
              <a:t>Classify metagenome-assembled contigs (MAGs) into plasmid, chromosome, or phage — critical for AMR surveillance and mobile genetic element tracking.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4871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A8A"/>
                </a:solidFill>
              </a:rPr>
              <a:t>Why it's hard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935224"/>
            <a:ext cx="155448" cy="155448"/>
          </a:xfrm>
          <a:prstGeom prst="ellipse">
            <a:avLst/>
          </a:prstGeom>
          <a:solidFill>
            <a:srgbClr val="E05C45"/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898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E"/>
                </a:solidFill>
              </a:rPr>
              <a:t>Real MAG contigs: fragmented, variable coverage, no circularity signal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3337560"/>
            <a:ext cx="155448" cy="155448"/>
          </a:xfrm>
          <a:prstGeom prst="ellipse">
            <a:avLst/>
          </a:prstGeom>
          <a:solidFill>
            <a:srgbClr val="E05C45"/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33009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E"/>
                </a:solidFill>
              </a:rPr>
              <a:t>265 / 394 benchmark plasmids carry NO mobility genes (relaxase, MPF, rep)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739896"/>
            <a:ext cx="155448" cy="155448"/>
          </a:xfrm>
          <a:prstGeom prst="ellipse">
            <a:avLst/>
          </a:prstGeom>
          <a:solidFill>
            <a:srgbClr val="E05C45"/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7033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E"/>
                </a:solidFill>
              </a:rPr>
              <a:t>53% of benchmark chromosomes are &lt;2 kb — noisy k-mer profiles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4142232"/>
            <a:ext cx="155448" cy="155448"/>
          </a:xfrm>
          <a:prstGeom prst="ellipse">
            <a:avLst/>
          </a:prstGeom>
          <a:solidFill>
            <a:srgbClr val="E05C45"/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41056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6E"/>
                </a:solidFill>
              </a:rPr>
              <a:t>PlasFlow v1 used simulated reads from 40 complete genomes (far easier benchmark)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188720"/>
            <a:ext cx="201168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3258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0.939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03720" y="13716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6E"/>
                </a:solidFill>
              </a:rPr>
              <a:t>PlasFlow v1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5A6E"/>
                </a:solidFill>
              </a:rPr>
              <a:t>Plasmid F1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450592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450592"/>
            <a:ext cx="201168" cy="1051560"/>
          </a:xfrm>
          <a:prstGeom prst="rect">
            <a:avLst/>
          </a:prstGeom>
          <a:solidFill>
            <a:srgbClr val="E05C45"/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5877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0.159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903720" y="26334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6E"/>
                </a:solidFill>
              </a:rPr>
              <a:t>Our MLP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5A6E"/>
                </a:solidFill>
              </a:rPr>
              <a:t>Baseline F1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712464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712464"/>
            <a:ext cx="201168" cy="1051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84962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903720" y="389534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6E"/>
                </a:solidFill>
              </a:rPr>
              <a:t>Plasmids with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5A6E"/>
                </a:solidFill>
              </a:rPr>
              <a:t>no marker genes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Built: Hybrid Two-Stage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207008"/>
            <a:ext cx="1783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207008"/>
            <a:ext cx="1783080" cy="320040"/>
          </a:xfrm>
          <a:prstGeom prst="rect">
            <a:avLst/>
          </a:prstGeom>
          <a:solidFill>
            <a:srgbClr val="3D5A6E"/>
          </a:solidFill>
          <a:ln w="12700">
            <a:solidFill>
              <a:srgbClr val="3D5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2070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INPUT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A6E"/>
                </a:solidFill>
              </a:rPr>
              <a:t>Metagenomic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5A6E"/>
                </a:solidFill>
              </a:rPr>
              <a:t>contigs (FASTA)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03120" y="1207008"/>
            <a:ext cx="1783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03120" y="1207008"/>
            <a:ext cx="178308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2070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76272" y="1572768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A6E"/>
                </a:solidFill>
              </a:rPr>
              <a:t>k-mer MLP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5A6E"/>
                </a:solidFill>
              </a:rPr>
              <a:t>1,493-dim features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5A6E"/>
                </a:solidFill>
              </a:rPr>
              <a:t>(k=1–5 + k=6 PCA)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51960" y="1207008"/>
            <a:ext cx="1783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1207008"/>
            <a:ext cx="1783080" cy="3200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2070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25112" y="1572768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A6E"/>
                </a:solidFill>
              </a:rPr>
              <a:t>Marker XGBoost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5A6E"/>
                </a:solidFill>
              </a:rPr>
              <a:t>Bio annotations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5A6E"/>
                </a:solidFill>
              </a:rPr>
              <a:t>(MOB-suite DIAMOND)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0" y="1207008"/>
            <a:ext cx="1783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1207008"/>
            <a:ext cx="178308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2070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LOGIC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73952" y="1572768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A6E"/>
                </a:solidFill>
              </a:rPr>
              <a:t>Conjugative override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5A6E"/>
                </a:solidFill>
              </a:rPr>
              <a:t>Per-length thresholds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5A6E"/>
                </a:solidFill>
              </a:rPr>
              <a:t>Alpha blending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84248" y="1920240"/>
            <a:ext cx="256032" cy="0"/>
          </a:xfrm>
          <a:prstGeom prst="line">
            <a:avLst/>
          </a:prstGeom>
          <a:noFill/>
          <a:ln w="25400">
            <a:solidFill>
              <a:srgbClr val="0D7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30552" y="1819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A8A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60520" y="1920240"/>
            <a:ext cx="256032" cy="0"/>
          </a:xfrm>
          <a:prstGeom prst="line">
            <a:avLst/>
          </a:prstGeom>
          <a:noFill/>
          <a:ln w="25400">
            <a:solidFill>
              <a:srgbClr val="0D7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06824" y="1819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A8A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1920240"/>
            <a:ext cx="256032" cy="0"/>
          </a:xfrm>
          <a:prstGeom prst="line">
            <a:avLst/>
          </a:prstGeom>
          <a:noFill/>
          <a:ln w="25400">
            <a:solidFill>
              <a:srgbClr val="0D7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55664" y="1819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A8A"/>
                </a:solidFill>
              </a:rPr>
              <a:t>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73952" y="2834640"/>
            <a:ext cx="1627632" cy="329184"/>
          </a:xfrm>
          <a:prstGeom prst="roundRect">
            <a:avLst>
              <a:gd name="adj" fmla="val 16667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283464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PLASMID / CHR / PHAGE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287768" y="2624328"/>
            <a:ext cx="0" cy="210312"/>
          </a:xfrm>
          <a:prstGeom prst="line">
            <a:avLst/>
          </a:prstGeom>
          <a:noFill/>
          <a:ln w="25400">
            <a:solidFill>
              <a:srgbClr val="0D7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9077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Key Innovations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4088" y="3273552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" y="3273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①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01168" y="3776472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5A6E"/>
                </a:solidFill>
              </a:rPr>
              <a:t>k=6 PCA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5A6E"/>
                </a:solidFill>
              </a:rPr>
              <a:t>compression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5A6E"/>
                </a:solidFill>
              </a:rPr>
              <a:t>128 dims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185416" y="3273552"/>
            <a:ext cx="438912" cy="438912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85416" y="3273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②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682496" y="3776472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5A6E"/>
                </a:solidFill>
              </a:rPr>
              <a:t>Biological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5A6E"/>
                </a:solidFill>
              </a:rPr>
              <a:t>marker annotation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5A6E"/>
                </a:solidFill>
              </a:rPr>
              <a:t>(DIAMOND blastp)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66744" y="3273552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66744" y="3273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③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163824" y="3776472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5A6E"/>
                </a:solidFill>
              </a:rPr>
              <a:t>Conjugative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5A6E"/>
                </a:solidFill>
              </a:rPr>
              <a:t>hard override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5A6E"/>
                </a:solidFill>
              </a:rPr>
              <a:t>(relaxase + MPF)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148072" y="3273552"/>
            <a:ext cx="438912" cy="438912"/>
          </a:xfrm>
          <a:prstGeom prst="ellipse">
            <a:avLst/>
          </a:prstGeom>
          <a:solidFill>
            <a:srgbClr val="E05C45"/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48072" y="3273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④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645152" y="3776472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5A6E"/>
                </a:solidFill>
              </a:rPr>
              <a:t>Per-length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5A6E"/>
                </a:solidFill>
              </a:rPr>
              <a:t>confidence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5A6E"/>
                </a:solidFill>
              </a:rPr>
              <a:t>thresholds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26480" y="2907792"/>
            <a:ext cx="2743200" cy="1965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D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126480" y="2953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Current Benchmark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36208" y="32918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5"/>
                </a:solidFill>
              </a:rPr>
              <a:t>MLP baseline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772400" y="32918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F1 = 0.159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36208" y="3547872"/>
            <a:ext cx="2514600" cy="18288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36208" y="366674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5"/>
                </a:solidFill>
              </a:rPr>
              <a:t>+ XGBoost blend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772400" y="366674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F1 = 0.378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36208" y="3922776"/>
            <a:ext cx="2514600" cy="18288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36208" y="40416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5"/>
                </a:solidFill>
              </a:rPr>
              <a:t>+ Conj. override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772400" y="40416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F1 = 0.392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36208" y="4297680"/>
            <a:ext cx="2514600" cy="18288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36208" y="44165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BB5"/>
                </a:solidFill>
              </a:rPr>
              <a:t>PlasFlow v1 target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772400" y="441655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F1 = 0.939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22860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05840"/>
            <a:ext cx="4663440" cy="3383280"/>
          </a:xfrm>
          <a:prstGeom prst="rect">
            <a:avLst/>
          </a:prstGeom>
          <a:solidFill>
            <a:srgbClr val="061F33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515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BB5"/>
                </a:solidFill>
              </a:rPr>
              <a:t>Plasmid F1-Score Progression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4041648"/>
            <a:ext cx="3931920" cy="0"/>
          </a:xfrm>
          <a:prstGeom prst="line">
            <a:avLst/>
          </a:prstGeom>
          <a:noFill/>
          <a:ln w="6350">
            <a:solidFill>
              <a:srgbClr val="1A3A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93192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0.0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3511296"/>
            <a:ext cx="3931920" cy="0"/>
          </a:xfrm>
          <a:prstGeom prst="line">
            <a:avLst/>
          </a:prstGeom>
          <a:noFill/>
          <a:ln w="6350">
            <a:solidFill>
              <a:srgbClr val="1A3A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401568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0.1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77240" y="2980944"/>
            <a:ext cx="3931920" cy="0"/>
          </a:xfrm>
          <a:prstGeom prst="line">
            <a:avLst/>
          </a:prstGeom>
          <a:noFill/>
          <a:ln w="6350">
            <a:solidFill>
              <a:srgbClr val="1A3A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871216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0.2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77240" y="2450592"/>
            <a:ext cx="3931920" cy="0"/>
          </a:xfrm>
          <a:prstGeom prst="line">
            <a:avLst/>
          </a:prstGeom>
          <a:noFill/>
          <a:ln w="6350">
            <a:solidFill>
              <a:srgbClr val="1A3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4086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0.3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77240" y="1920240"/>
            <a:ext cx="3931920" cy="0"/>
          </a:xfrm>
          <a:prstGeom prst="line">
            <a:avLst/>
          </a:prstGeom>
          <a:noFill/>
          <a:ln w="6350">
            <a:solidFill>
              <a:srgbClr val="1A3A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810512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0.4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77240" y="1389888"/>
            <a:ext cx="3931920" cy="0"/>
          </a:xfrm>
          <a:prstGeom prst="line">
            <a:avLst/>
          </a:prstGeom>
          <a:noFill/>
          <a:ln w="6350">
            <a:solidFill>
              <a:srgbClr val="1A3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28016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0.5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43000" y="3198388"/>
            <a:ext cx="822960" cy="843260"/>
          </a:xfrm>
          <a:prstGeom prst="rect">
            <a:avLst/>
          </a:prstGeom>
          <a:solidFill>
            <a:srgbClr val="2A5F7A"/>
          </a:solidFill>
          <a:ln w="12700">
            <a:solidFill>
              <a:srgbClr val="2A5F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29423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0.159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4114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</a:rPr>
              <a:t>MLP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</a:rPr>
              <a:t>Baseline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31720" y="2036917"/>
            <a:ext cx="822960" cy="2004731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1720" y="1780885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0.378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40280" y="4114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</a:rPr>
              <a:t>+ XGBoost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</a:rPr>
              <a:t>Marker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20440" y="1962668"/>
            <a:ext cx="822960" cy="20789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170663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0.392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4114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</a:rPr>
              <a:t>+ Conj.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</a:rPr>
              <a:t>Override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77240" y="4041648"/>
            <a:ext cx="3931920" cy="0"/>
          </a:xfrm>
          <a:prstGeom prst="line">
            <a:avLst/>
          </a:prstGeom>
          <a:noFill/>
          <a:ln w="19050">
            <a:solidFill>
              <a:srgbClr val="7A9B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4480560"/>
            <a:ext cx="4663440" cy="548640"/>
          </a:xfrm>
          <a:prstGeom prst="rect">
            <a:avLst/>
          </a:prstGeom>
          <a:solidFill>
            <a:srgbClr val="0D2035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4480560"/>
            <a:ext cx="466344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</a:rPr>
              <a:t>Target (PlasFlow v1): </a:t>
            </a:r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F1 = 0.939  </a:t>
            </a:r>
            <a:pPr indent="0" marL="0">
              <a:buNone/>
            </a:pPr>
            <a:r>
              <a:rPr lang="en-US" sz="950" dirty="0">
                <a:solidFill>
                  <a:srgbClr val="7A9BB5"/>
                </a:solidFill>
              </a:rPr>
              <a:t>| 60,000 real MAG contigs benchmark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166360" y="1536192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77840" y="14813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geNomad Marker Features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77840" y="1737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5"/>
                </a:solidFill>
              </a:rPr>
              <a:t>Replace MOB-suite (3 DBs) with 227,897 protein profiles &amp; SPM scores — covers all plasmid gene families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166360" y="233172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77840" y="22768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RBS + Strand Features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77840" y="25328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5"/>
                </a:solidFill>
              </a:rPr>
              <a:t>Strand-switch rate &amp; Shine-Dalgarno frequency from pyrodigal — zero extra compute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166360" y="3127248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577840" y="30723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IMG/PR Training Data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77840" y="33284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5"/>
                </a:solidFill>
              </a:rPr>
              <a:t>699k+ metagenomic plasmids — improves non-mobilizable plasmid recall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166360" y="3922776"/>
            <a:ext cx="329184" cy="329184"/>
          </a:xfrm>
          <a:prstGeom prst="ellipse">
            <a:avLst/>
          </a:prstGeom>
          <a:solidFill>
            <a:srgbClr val="E05C45"/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66360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577840" y="38679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CNN Architecture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577840" y="41239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5"/>
                </a:solidFill>
              </a:rPr>
              <a:t>Replace k-mer histogram MLP with position-aware 1D CNN to capture gene-order context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PlasFlow v2 Progress</dc:title>
  <dc:subject>PptxGenJS Presentation</dc:subject>
  <dc:creator>PptxGenJS</dc:creator>
  <cp:lastModifiedBy>PptxGenJS</cp:lastModifiedBy>
  <cp:revision>1</cp:revision>
  <dcterms:created xsi:type="dcterms:W3CDTF">2026-06-09T15:10:03Z</dcterms:created>
  <dcterms:modified xsi:type="dcterms:W3CDTF">2026-06-09T15:10:03Z</dcterms:modified>
</cp:coreProperties>
</file>